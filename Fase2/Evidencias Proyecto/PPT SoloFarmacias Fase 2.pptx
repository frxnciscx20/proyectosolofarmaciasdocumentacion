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 Bold" charset="1" panose="020B0803030501040103"/>
      <p:regular r:id="rId14"/>
    </p:embeddedFon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 Italics" charset="1" panose="000008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https://solo-farmacias-mvp.vercel.app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104" y="4899869"/>
            <a:ext cx="18487104" cy="13377941"/>
          </a:xfrm>
          <a:custGeom>
            <a:avLst/>
            <a:gdLst/>
            <a:ahLst/>
            <a:cxnLst/>
            <a:rect r="r" b="b" t="t" l="l"/>
            <a:pathLst>
              <a:path h="13377941" w="18487104">
                <a:moveTo>
                  <a:pt x="0" y="0"/>
                </a:moveTo>
                <a:lnTo>
                  <a:pt x="18487104" y="0"/>
                </a:lnTo>
                <a:lnTo>
                  <a:pt x="18487104" y="13377941"/>
                </a:lnTo>
                <a:lnTo>
                  <a:pt x="0" y="13377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983993" y="6383917"/>
            <a:ext cx="8918179" cy="19050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2789597">
            <a:off x="1995529" y="1827768"/>
            <a:ext cx="606050" cy="530294"/>
            <a:chOff x="0" y="0"/>
            <a:chExt cx="812800" cy="711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789597">
            <a:off x="2244285" y="2057003"/>
            <a:ext cx="431165" cy="377270"/>
            <a:chOff x="0" y="0"/>
            <a:chExt cx="812800" cy="711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93515" y="196413"/>
            <a:ext cx="6206554" cy="620655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936317" y="2875569"/>
            <a:ext cx="8348131" cy="186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6"/>
              </a:lnSpc>
            </a:pPr>
            <a:r>
              <a:rPr lang="en-US" sz="109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3993" y="4826348"/>
            <a:ext cx="16794773" cy="107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2"/>
              </a:lnSpc>
            </a:pPr>
            <a:r>
              <a:rPr lang="en-US" b="true" sz="7648" spc="1139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SOLOFARMACIAS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3993" y="6950655"/>
            <a:ext cx="523287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134" u="sng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  <a:hlinkClick r:id="rId5" tooltip="https://solo-farmacias-mvp.vercel.app"/>
              </a:rPr>
              <a:t>www.SoloFarmacias.com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07024" y="1795642"/>
            <a:ext cx="3325487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Grupo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734044" y="3688931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4659044">
            <a:off x="-4016448" y="5640024"/>
            <a:ext cx="9198422" cy="3086100"/>
            <a:chOff x="0" y="0"/>
            <a:chExt cx="242263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2630" cy="812800"/>
            </a:xfrm>
            <a:custGeom>
              <a:avLst/>
              <a:gdLst/>
              <a:ahLst/>
              <a:cxnLst/>
              <a:rect r="r" b="b" t="t" l="l"/>
              <a:pathLst>
                <a:path h="812800" w="2422630">
                  <a:moveTo>
                    <a:pt x="807980" y="19070"/>
                  </a:moveTo>
                  <a:cubicBezTo>
                    <a:pt x="931781" y="7556"/>
                    <a:pt x="1073383" y="0"/>
                    <a:pt x="1211967" y="0"/>
                  </a:cubicBezTo>
                  <a:cubicBezTo>
                    <a:pt x="1350556" y="0"/>
                    <a:pt x="1483912" y="6476"/>
                    <a:pt x="1606804" y="17990"/>
                  </a:cubicBezTo>
                  <a:cubicBezTo>
                    <a:pt x="1609423" y="18350"/>
                    <a:pt x="1612036" y="18350"/>
                    <a:pt x="1614650" y="18710"/>
                  </a:cubicBezTo>
                  <a:cubicBezTo>
                    <a:pt x="2076166" y="64765"/>
                    <a:pt x="2416093" y="186379"/>
                    <a:pt x="2422630" y="328502"/>
                  </a:cubicBezTo>
                  <a:lnTo>
                    <a:pt x="242263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6537" y="185660"/>
                    <a:pt x="341234" y="64045"/>
                    <a:pt x="807980" y="1907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6375"/>
              <a:ext cx="2422630" cy="101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64546" y="1549362"/>
            <a:ext cx="6257114" cy="90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b="true" sz="6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Problema 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3983" y="2265017"/>
            <a:ext cx="8918240" cy="126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4"/>
              </a:lnSpc>
            </a:pPr>
            <a:r>
              <a:rPr lang="en-US" b="true" sz="7700" spc="723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RESOLVER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3745" y="3803650"/>
            <a:ext cx="13201981" cy="545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Comparar precios entre farmacias es lento y confuso.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Los beneficios de Caja Los Andes están dispersos en distintas plataformas.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Los usuarios no cuentan con alertas sobre descuentos que les interesen.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No existen filtros avanzados que permitan buscar por precio o porcentaje de descuento.</a:t>
            </a:r>
          </a:p>
          <a:p>
            <a:pPr algn="l" marL="539749" indent="-269875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Esto genera pérdida de tiempo, menor ahorro y baja confianza en la información disponible.</a:t>
            </a:r>
          </a:p>
        </p:txBody>
      </p:sp>
      <p:grpSp>
        <p:nvGrpSpPr>
          <p:cNvPr name="Group 9" id="9"/>
          <p:cNvGrpSpPr/>
          <p:nvPr/>
        </p:nvGrpSpPr>
        <p:grpSpPr>
          <a:xfrm rot="-6152106">
            <a:off x="13117016" y="1402750"/>
            <a:ext cx="9198422" cy="3086100"/>
            <a:chOff x="0" y="0"/>
            <a:chExt cx="242263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22630" cy="812800"/>
            </a:xfrm>
            <a:custGeom>
              <a:avLst/>
              <a:gdLst/>
              <a:ahLst/>
              <a:cxnLst/>
              <a:rect r="r" b="b" t="t" l="l"/>
              <a:pathLst>
                <a:path h="812800" w="2422630">
                  <a:moveTo>
                    <a:pt x="807980" y="19070"/>
                  </a:moveTo>
                  <a:cubicBezTo>
                    <a:pt x="931781" y="7556"/>
                    <a:pt x="1073383" y="0"/>
                    <a:pt x="1211967" y="0"/>
                  </a:cubicBezTo>
                  <a:cubicBezTo>
                    <a:pt x="1350556" y="0"/>
                    <a:pt x="1483912" y="6476"/>
                    <a:pt x="1606804" y="17990"/>
                  </a:cubicBezTo>
                  <a:cubicBezTo>
                    <a:pt x="1609423" y="18350"/>
                    <a:pt x="1612036" y="18350"/>
                    <a:pt x="1614650" y="18710"/>
                  </a:cubicBezTo>
                  <a:cubicBezTo>
                    <a:pt x="2076166" y="64765"/>
                    <a:pt x="2416093" y="186379"/>
                    <a:pt x="2422630" y="328502"/>
                  </a:cubicBezTo>
                  <a:lnTo>
                    <a:pt x="242263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6537" y="185660"/>
                    <a:pt x="341234" y="64045"/>
                    <a:pt x="807980" y="1907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06375"/>
              <a:ext cx="2422630" cy="101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3309766" y="-7267291"/>
            <a:ext cx="15667471" cy="11337552"/>
          </a:xfrm>
          <a:custGeom>
            <a:avLst/>
            <a:gdLst/>
            <a:ahLst/>
            <a:cxnLst/>
            <a:rect r="r" b="b" t="t" l="l"/>
            <a:pathLst>
              <a:path h="11337552" w="15667471">
                <a:moveTo>
                  <a:pt x="0" y="0"/>
                </a:moveTo>
                <a:lnTo>
                  <a:pt x="15667471" y="0"/>
                </a:lnTo>
                <a:lnTo>
                  <a:pt x="15667471" y="11337552"/>
                </a:lnTo>
                <a:lnTo>
                  <a:pt x="0" y="11337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185362" y="3210262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15297" y="1143000"/>
            <a:ext cx="3408672" cy="7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5297" y="2007880"/>
            <a:ext cx="6760254" cy="101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5297" y="3592404"/>
            <a:ext cx="8970737" cy="321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83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SoloFarmacias </a:t>
            </a:r>
            <a:r>
              <a:rPr lang="en-US" sz="2699" spc="83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is a web platform that centralizes pharmacy prices, discounts, and benefits for Caja Los Andes members.</a:t>
            </a:r>
          </a:p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83" u="none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It allows users to filter by price, discount, and location, and receive notifications about offers of interest, saving time and improving access to reliable information.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13360" y="5901264"/>
            <a:ext cx="15667471" cy="11337552"/>
          </a:xfrm>
          <a:custGeom>
            <a:avLst/>
            <a:gdLst/>
            <a:ahLst/>
            <a:cxnLst/>
            <a:rect r="r" b="b" t="t" l="l"/>
            <a:pathLst>
              <a:path h="11337552" w="15667471">
                <a:moveTo>
                  <a:pt x="0" y="0"/>
                </a:moveTo>
                <a:lnTo>
                  <a:pt x="15667471" y="0"/>
                </a:lnTo>
                <a:lnTo>
                  <a:pt x="15667471" y="11337551"/>
                </a:lnTo>
                <a:lnTo>
                  <a:pt x="0" y="11337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335056" y="1681378"/>
            <a:ext cx="6924244" cy="69242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618758" y="4100540"/>
            <a:ext cx="8918179" cy="19050"/>
          </a:xfrm>
          <a:prstGeom prst="line">
            <a:avLst/>
          </a:prstGeom>
          <a:ln cap="flat" w="28575">
            <a:solidFill>
              <a:srgbClr val="FFE9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499113" y="1308543"/>
            <a:ext cx="2675262" cy="2810990"/>
            <a:chOff x="0" y="0"/>
            <a:chExt cx="77355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3554" cy="812800"/>
            </a:xfrm>
            <a:custGeom>
              <a:avLst/>
              <a:gdLst/>
              <a:ahLst/>
              <a:cxnLst/>
              <a:rect r="r" b="b" t="t" l="l"/>
              <a:pathLst>
                <a:path h="812800" w="773554">
                  <a:moveTo>
                    <a:pt x="0" y="0"/>
                  </a:moveTo>
                  <a:lnTo>
                    <a:pt x="773554" y="0"/>
                  </a:lnTo>
                  <a:lnTo>
                    <a:pt x="7735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773554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06741" y="1308543"/>
            <a:ext cx="2675262" cy="2810990"/>
            <a:chOff x="0" y="0"/>
            <a:chExt cx="77355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554" cy="812800"/>
            </a:xfrm>
            <a:custGeom>
              <a:avLst/>
              <a:gdLst/>
              <a:ahLst/>
              <a:cxnLst/>
              <a:rect r="r" b="b" t="t" l="l"/>
              <a:pathLst>
                <a:path h="812800" w="773554">
                  <a:moveTo>
                    <a:pt x="0" y="0"/>
                  </a:moveTo>
                  <a:lnTo>
                    <a:pt x="773554" y="0"/>
                  </a:lnTo>
                  <a:lnTo>
                    <a:pt x="7735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773554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948096" y="1436255"/>
            <a:ext cx="2392552" cy="2555565"/>
            <a:chOff x="0" y="0"/>
            <a:chExt cx="402829" cy="4302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2829" cy="430275"/>
            </a:xfrm>
            <a:custGeom>
              <a:avLst/>
              <a:gdLst/>
              <a:ahLst/>
              <a:cxnLst/>
              <a:rect r="r" b="b" t="t" l="l"/>
              <a:pathLst>
                <a:path h="430275" w="402829">
                  <a:moveTo>
                    <a:pt x="0" y="0"/>
                  </a:moveTo>
                  <a:lnTo>
                    <a:pt x="402829" y="0"/>
                  </a:lnTo>
                  <a:lnTo>
                    <a:pt x="402829" y="430275"/>
                  </a:lnTo>
                  <a:lnTo>
                    <a:pt x="0" y="430275"/>
                  </a:lnTo>
                  <a:close/>
                </a:path>
              </a:pathLst>
            </a:custGeom>
            <a:blipFill>
              <a:blip r:embed="rId2"/>
              <a:stretch>
                <a:fillRect l="-3406" t="0" r="-340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99113" y="5374119"/>
            <a:ext cx="2675262" cy="2810990"/>
            <a:chOff x="0" y="0"/>
            <a:chExt cx="773554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3554" cy="812800"/>
            </a:xfrm>
            <a:custGeom>
              <a:avLst/>
              <a:gdLst/>
              <a:ahLst/>
              <a:cxnLst/>
              <a:rect r="r" b="b" t="t" l="l"/>
              <a:pathLst>
                <a:path h="812800" w="773554">
                  <a:moveTo>
                    <a:pt x="0" y="0"/>
                  </a:moveTo>
                  <a:lnTo>
                    <a:pt x="773554" y="0"/>
                  </a:lnTo>
                  <a:lnTo>
                    <a:pt x="7735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33375"/>
              <a:ext cx="773554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40468" y="1444990"/>
            <a:ext cx="2392552" cy="2555565"/>
            <a:chOff x="0" y="0"/>
            <a:chExt cx="402829" cy="4302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2829" cy="430275"/>
            </a:xfrm>
            <a:custGeom>
              <a:avLst/>
              <a:gdLst/>
              <a:ahLst/>
              <a:cxnLst/>
              <a:rect r="r" b="b" t="t" l="l"/>
              <a:pathLst>
                <a:path h="430275" w="402829">
                  <a:moveTo>
                    <a:pt x="0" y="0"/>
                  </a:moveTo>
                  <a:lnTo>
                    <a:pt x="402829" y="0"/>
                  </a:lnTo>
                  <a:lnTo>
                    <a:pt x="402829" y="430275"/>
                  </a:lnTo>
                  <a:lnTo>
                    <a:pt x="0" y="430275"/>
                  </a:lnTo>
                  <a:close/>
                </a:path>
              </a:pathLst>
            </a:custGeom>
            <a:blipFill>
              <a:blip r:embed="rId3"/>
              <a:stretch>
                <a:fillRect l="-3406" t="0" r="-340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806741" y="5374119"/>
            <a:ext cx="2675262" cy="2810990"/>
            <a:chOff x="0" y="0"/>
            <a:chExt cx="773554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3554" cy="812800"/>
            </a:xfrm>
            <a:custGeom>
              <a:avLst/>
              <a:gdLst/>
              <a:ahLst/>
              <a:cxnLst/>
              <a:rect r="r" b="b" t="t" l="l"/>
              <a:pathLst>
                <a:path h="812800" w="773554">
                  <a:moveTo>
                    <a:pt x="0" y="0"/>
                  </a:moveTo>
                  <a:lnTo>
                    <a:pt x="773554" y="0"/>
                  </a:lnTo>
                  <a:lnTo>
                    <a:pt x="77355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773554" cy="1146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48096" y="5501831"/>
            <a:ext cx="2392552" cy="2555565"/>
            <a:chOff x="0" y="0"/>
            <a:chExt cx="402829" cy="4302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2829" cy="430275"/>
            </a:xfrm>
            <a:custGeom>
              <a:avLst/>
              <a:gdLst/>
              <a:ahLst/>
              <a:cxnLst/>
              <a:rect r="r" b="b" t="t" l="l"/>
              <a:pathLst>
                <a:path h="430275" w="402829">
                  <a:moveTo>
                    <a:pt x="0" y="0"/>
                  </a:moveTo>
                  <a:lnTo>
                    <a:pt x="402829" y="0"/>
                  </a:lnTo>
                  <a:lnTo>
                    <a:pt x="402829" y="430275"/>
                  </a:lnTo>
                  <a:lnTo>
                    <a:pt x="0" y="430275"/>
                  </a:lnTo>
                  <a:close/>
                </a:path>
              </a:pathLst>
            </a:custGeom>
            <a:blipFill>
              <a:blip r:embed="rId4"/>
              <a:stretch>
                <a:fillRect l="-3406" t="0" r="-340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640468" y="5501831"/>
            <a:ext cx="2392552" cy="2555565"/>
            <a:chOff x="0" y="0"/>
            <a:chExt cx="402829" cy="4302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829" cy="430275"/>
            </a:xfrm>
            <a:custGeom>
              <a:avLst/>
              <a:gdLst/>
              <a:ahLst/>
              <a:cxnLst/>
              <a:rect r="r" b="b" t="t" l="l"/>
              <a:pathLst>
                <a:path h="430275" w="402829">
                  <a:moveTo>
                    <a:pt x="0" y="0"/>
                  </a:moveTo>
                  <a:lnTo>
                    <a:pt x="402829" y="0"/>
                  </a:lnTo>
                  <a:lnTo>
                    <a:pt x="402829" y="430275"/>
                  </a:lnTo>
                  <a:lnTo>
                    <a:pt x="0" y="430275"/>
                  </a:lnTo>
                  <a:close/>
                </a:path>
              </a:pathLst>
            </a:custGeom>
            <a:blipFill>
              <a:blip r:embed="rId5"/>
              <a:stretch>
                <a:fillRect l="-3406" t="0" r="-3406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840332" y="1717958"/>
            <a:ext cx="3423051" cy="110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40332" y="2381305"/>
            <a:ext cx="499639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b="true" sz="9000" spc="6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40332" y="4700322"/>
            <a:ext cx="5752364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4"/>
              </a:lnSpc>
              <a:spcBef>
                <a:spcPct val="0"/>
              </a:spcBef>
            </a:pPr>
            <a:r>
              <a:rPr lang="en-US" sz="2299" spc="71">
                <a:solidFill>
                  <a:srgbClr val="FFE9E9"/>
                </a:solidFill>
                <a:latin typeface="Poppins"/>
                <a:ea typeface="Poppins"/>
                <a:cs typeface="Poppins"/>
                <a:sym typeface="Poppins"/>
              </a:rPr>
              <a:t>LOS PULENTOS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21816" y="4324335"/>
            <a:ext cx="4229856" cy="2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2029">
                <a:solidFill>
                  <a:srgbClr val="FF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FRANCISCO GARCIA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21816" y="4649572"/>
            <a:ext cx="4229856" cy="25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9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 Owner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29444" y="4343385"/>
            <a:ext cx="4229856" cy="2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2029">
                <a:solidFill>
                  <a:srgbClr val="FF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BASTIAN MARTINEZ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29444" y="4668622"/>
            <a:ext cx="4229856" cy="25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9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Scrum Master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21816" y="8394658"/>
            <a:ext cx="4229856" cy="2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2029">
                <a:solidFill>
                  <a:srgbClr val="FF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PAULO IRRIBARRA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21816" y="8719895"/>
            <a:ext cx="4229856" cy="25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9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 Team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29444" y="8375608"/>
            <a:ext cx="4229856" cy="28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2029">
                <a:solidFill>
                  <a:srgbClr val="FFE9E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SOFIA CENZANO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029444" y="8700845"/>
            <a:ext cx="4229856" cy="25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9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 Tean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93103" y="1029460"/>
            <a:ext cx="7715489" cy="7598404"/>
            <a:chOff x="0" y="0"/>
            <a:chExt cx="10287319" cy="10131206"/>
          </a:xfrm>
        </p:grpSpPr>
        <p:sp>
          <p:nvSpPr>
            <p:cNvPr name="AutoShape 3" id="3"/>
            <p:cNvSpPr/>
            <p:nvPr/>
          </p:nvSpPr>
          <p:spPr>
            <a:xfrm flipV="true">
              <a:off x="21104" y="21059"/>
              <a:ext cx="10260326" cy="40801"/>
            </a:xfrm>
            <a:prstGeom prst="line">
              <a:avLst/>
            </a:prstGeom>
            <a:ln cap="flat" w="421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H="true">
              <a:off x="21059" y="82371"/>
              <a:ext cx="15215" cy="10021007"/>
            </a:xfrm>
            <a:prstGeom prst="line">
              <a:avLst/>
            </a:prstGeom>
            <a:ln cap="flat" w="42119">
              <a:solidFill>
                <a:srgbClr val="8D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H="true">
              <a:off x="10251044" y="37410"/>
              <a:ext cx="15215" cy="10021007"/>
            </a:xfrm>
            <a:prstGeom prst="line">
              <a:avLst/>
            </a:prstGeom>
            <a:ln cap="flat" w="42119">
              <a:solidFill>
                <a:srgbClr val="8D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5889" y="10069345"/>
              <a:ext cx="10260326" cy="40801"/>
            </a:xfrm>
            <a:prstGeom prst="line">
              <a:avLst/>
            </a:prstGeom>
            <a:ln cap="flat" w="42119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7" id="7"/>
          <p:cNvSpPr/>
          <p:nvPr/>
        </p:nvSpPr>
        <p:spPr>
          <a:xfrm>
            <a:off x="-3430390" y="1292054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847194" y="7111098"/>
            <a:ext cx="11659901" cy="8437528"/>
          </a:xfrm>
          <a:custGeom>
            <a:avLst/>
            <a:gdLst/>
            <a:ahLst/>
            <a:cxnLst/>
            <a:rect r="r" b="b" t="t" l="l"/>
            <a:pathLst>
              <a:path h="8437528" w="11659901">
                <a:moveTo>
                  <a:pt x="0" y="0"/>
                </a:moveTo>
                <a:lnTo>
                  <a:pt x="11659901" y="0"/>
                </a:lnTo>
                <a:lnTo>
                  <a:pt x="11659901" y="8437528"/>
                </a:lnTo>
                <a:lnTo>
                  <a:pt x="0" y="8437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442396" y="1420210"/>
            <a:ext cx="6816904" cy="681690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27273" y="1420210"/>
            <a:ext cx="7339308" cy="8113865"/>
          </a:xfrm>
          <a:custGeom>
            <a:avLst/>
            <a:gdLst/>
            <a:ahLst/>
            <a:cxnLst/>
            <a:rect r="r" b="b" t="t" l="l"/>
            <a:pathLst>
              <a:path h="8113865" w="7339308">
                <a:moveTo>
                  <a:pt x="0" y="0"/>
                </a:moveTo>
                <a:lnTo>
                  <a:pt x="7339308" y="0"/>
                </a:lnTo>
                <a:lnTo>
                  <a:pt x="7339308" y="8113865"/>
                </a:lnTo>
                <a:lnTo>
                  <a:pt x="0" y="8113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983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27273" y="-86206"/>
            <a:ext cx="4859468" cy="141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b="true" sz="7800" spc="733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VISION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307168" y="2360728"/>
            <a:ext cx="4836832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4659044">
            <a:off x="-4776446" y="6754005"/>
            <a:ext cx="9198422" cy="3086100"/>
            <a:chOff x="0" y="0"/>
            <a:chExt cx="242263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22630" cy="812800"/>
            </a:xfrm>
            <a:custGeom>
              <a:avLst/>
              <a:gdLst/>
              <a:ahLst/>
              <a:cxnLst/>
              <a:rect r="r" b="b" t="t" l="l"/>
              <a:pathLst>
                <a:path h="812800" w="2422630">
                  <a:moveTo>
                    <a:pt x="807980" y="19070"/>
                  </a:moveTo>
                  <a:cubicBezTo>
                    <a:pt x="931781" y="7556"/>
                    <a:pt x="1073383" y="0"/>
                    <a:pt x="1211967" y="0"/>
                  </a:cubicBezTo>
                  <a:cubicBezTo>
                    <a:pt x="1350556" y="0"/>
                    <a:pt x="1483912" y="6476"/>
                    <a:pt x="1606804" y="17990"/>
                  </a:cubicBezTo>
                  <a:cubicBezTo>
                    <a:pt x="1609423" y="18350"/>
                    <a:pt x="1612036" y="18350"/>
                    <a:pt x="1614650" y="18710"/>
                  </a:cubicBezTo>
                  <a:cubicBezTo>
                    <a:pt x="2076166" y="64765"/>
                    <a:pt x="2416093" y="186379"/>
                    <a:pt x="2422630" y="328502"/>
                  </a:cubicBezTo>
                  <a:lnTo>
                    <a:pt x="242263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6537" y="185660"/>
                    <a:pt x="341234" y="64045"/>
                    <a:pt x="807980" y="1907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06375"/>
              <a:ext cx="2422630" cy="101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6152106">
            <a:off x="13753003" y="145528"/>
            <a:ext cx="9198422" cy="3086100"/>
            <a:chOff x="0" y="0"/>
            <a:chExt cx="242263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2630" cy="812800"/>
            </a:xfrm>
            <a:custGeom>
              <a:avLst/>
              <a:gdLst/>
              <a:ahLst/>
              <a:cxnLst/>
              <a:rect r="r" b="b" t="t" l="l"/>
              <a:pathLst>
                <a:path h="812800" w="2422630">
                  <a:moveTo>
                    <a:pt x="807980" y="19070"/>
                  </a:moveTo>
                  <a:cubicBezTo>
                    <a:pt x="931781" y="7556"/>
                    <a:pt x="1073383" y="0"/>
                    <a:pt x="1211967" y="0"/>
                  </a:cubicBezTo>
                  <a:cubicBezTo>
                    <a:pt x="1350556" y="0"/>
                    <a:pt x="1483912" y="6476"/>
                    <a:pt x="1606804" y="17990"/>
                  </a:cubicBezTo>
                  <a:cubicBezTo>
                    <a:pt x="1609423" y="18350"/>
                    <a:pt x="1612036" y="18350"/>
                    <a:pt x="1614650" y="18710"/>
                  </a:cubicBezTo>
                  <a:cubicBezTo>
                    <a:pt x="2076166" y="64765"/>
                    <a:pt x="2416093" y="186379"/>
                    <a:pt x="2422630" y="328502"/>
                  </a:cubicBezTo>
                  <a:lnTo>
                    <a:pt x="242263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6537" y="185660"/>
                    <a:pt x="341234" y="64045"/>
                    <a:pt x="807980" y="1907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6375"/>
              <a:ext cx="2422630" cy="1019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430115" y="1961374"/>
            <a:ext cx="11301259" cy="6116806"/>
          </a:xfrm>
          <a:custGeom>
            <a:avLst/>
            <a:gdLst/>
            <a:ahLst/>
            <a:cxnLst/>
            <a:rect r="r" b="b" t="t" l="l"/>
            <a:pathLst>
              <a:path h="6116806" w="11301259">
                <a:moveTo>
                  <a:pt x="0" y="0"/>
                </a:moveTo>
                <a:lnTo>
                  <a:pt x="11301259" y="0"/>
                </a:lnTo>
                <a:lnTo>
                  <a:pt x="11301259" y="6116807"/>
                </a:lnTo>
                <a:lnTo>
                  <a:pt x="0" y="6116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159504"/>
            <a:ext cx="15303521" cy="279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b="true" sz="7800" spc="733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  <a:p>
            <a:pPr algn="ctr">
              <a:lnSpc>
                <a:spcPts val="109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0646" y="878938"/>
            <a:ext cx="8373354" cy="1109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700" spc="492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247335" y="3072856"/>
            <a:ext cx="7834546" cy="6185444"/>
            <a:chOff x="0" y="0"/>
            <a:chExt cx="679420" cy="5364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9420" cy="536408"/>
            </a:xfrm>
            <a:custGeom>
              <a:avLst/>
              <a:gdLst/>
              <a:ahLst/>
              <a:cxnLst/>
              <a:rect r="r" b="b" t="t" l="l"/>
              <a:pathLst>
                <a:path h="536408" w="679420">
                  <a:moveTo>
                    <a:pt x="0" y="0"/>
                  </a:moveTo>
                  <a:lnTo>
                    <a:pt x="679420" y="0"/>
                  </a:lnTo>
                  <a:lnTo>
                    <a:pt x="679420" y="536408"/>
                  </a:lnTo>
                  <a:lnTo>
                    <a:pt x="0" y="536408"/>
                  </a:lnTo>
                  <a:close/>
                </a:path>
              </a:pathLst>
            </a:custGeom>
            <a:blipFill>
              <a:blip r:embed="rId2"/>
              <a:stretch>
                <a:fillRect l="-9213" t="0" r="-9213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24090" y="2858395"/>
            <a:ext cx="4575142" cy="679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📌 Metodología Ágil - SCRUM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✅ Desarrollo en sprints con entregas incrementales y funcionales.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✅ Cada sprint incluye: Planificación, Desarrollo, Pruebas y Revisión.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✅ Permite ajustes y mejoras continuas basadas en retroalimentación constante.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✅ Reuniones periódicas para garantizar el cumplimiento de requisitos.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0" y="2255003"/>
            <a:ext cx="914400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8100000">
            <a:off x="8926861" y="-4033178"/>
            <a:ext cx="15031127" cy="10877070"/>
          </a:xfrm>
          <a:custGeom>
            <a:avLst/>
            <a:gdLst/>
            <a:ahLst/>
            <a:cxnLst/>
            <a:rect r="r" b="b" t="t" l="l"/>
            <a:pathLst>
              <a:path h="10877070" w="15031127">
                <a:moveTo>
                  <a:pt x="0" y="0"/>
                </a:moveTo>
                <a:lnTo>
                  <a:pt x="15031127" y="0"/>
                </a:lnTo>
                <a:lnTo>
                  <a:pt x="15031127" y="10877070"/>
                </a:lnTo>
                <a:lnTo>
                  <a:pt x="0" y="10877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4205" y="4438062"/>
            <a:ext cx="8373354" cy="1122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-2789597">
            <a:off x="2590809" y="3836233"/>
            <a:ext cx="721847" cy="631617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89597">
            <a:off x="2832757" y="4065642"/>
            <a:ext cx="513548" cy="449354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21542" y="1862474"/>
            <a:ext cx="6206554" cy="62065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DAG1Wq9Do44</dc:identifier>
  <dcterms:modified xsi:type="dcterms:W3CDTF">2011-08-01T06:04:30Z</dcterms:modified>
  <cp:revision>1</cp:revision>
  <dc:title>Grupo 1</dc:title>
</cp:coreProperties>
</file>